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 (1 min). Contar que la clase pasada Alexander introdujo Node.js y hoy lo retomamos con soporte visual, con foco en lo que necesitan para el backend del proyecto. Plan: 60 min de explicación con ejemplos, 30 min de ejercicio práctico, 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Mostrar el recorrido. Remarcar que todo lo que vemos es aplicable directamente al backend del proyecto grupal.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Ubicar Node en la arquitectura del MVP. El frontend ya lo vienen trabajando; hoy construimos la pieza del medio. Repasar cliente-servidor y request/response en una frase. Preguntar: ¿dónde están hoy los datos de su proyecto? (probablemente en un array o un JSON local).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Definición clave: entorno de ejecución (runtime). Aclarar las dos confusiones típicas: no es un lenguaje nuevo ni un framework. V8 es el motor que traduce JS a código máquina; Node lo sacó del navegador y le agregó acceso a archivos, red, etc.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Pregunta disparadora: ¿qué pasa si ejecuto document.querySelector en Node? → error, document no existe. Y al revés: el navegador no puede leer archivos del disco por seguridad. El lenguaje es el mismo; cambian las herramientas disponibles.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Para ellos el argumento más fuerte es el primero: ya saben JS, así que el salto al backend es mucho menor. npm lo vemos en un 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Analogía central de la clase. Node tiene un solo hilo principal (el mozo). Las tareas lentas (leer archivos, consultar una BD, pedir algo por red) se delegan y Node sigue atendiendo. Cuando la tarea termina, se ejecuta el callback. No hace falta profundizar en el event loop técnico: con la idea alcanza.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Antes de mostrar la terminal, preguntar: ¿en qué orden se imprimen los mensajes? La mayoría dirá 1-2-3 o 1-3-2. Mostrar el resultado y conectar con el mozo. Código probado: la salida real es 1, 2,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LTS = Long Term Support, la versión estable recomendada. Hacer en vivo: node -v, crear hola.js, ejecutarlo. Mostrar también que escribiendo solo "node" se abre una consola interactiva (REPL) y se sale con Ctrl+C dos veces.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Cada archivo es un módulo. Lo que no se exporta queda privado. Esto les sirve para ordenar el backend del proyecto (por ejemplo, separar rutas y datos). Mencionar que existe otra sintaxis (import/export, ES Modules), pero en clase usamos require por simplicidad.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Presentación rápida, no hace falta profundizar. El que más importa hoy es http, porque es la base de los servidores. fs ya lo vieron en el ejemplo del mozo.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npm = Node Package Manager. Un paquete es código que otra persona publicó para reutilizar. Recalcar el .gitignore: es el error más común al subir proyectos Node a GitHub, y engancha con lo que ya trabajaron de Git. Hacer en vivo npm init -y y npm install express.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Mostrar el package.json que se generó en vivo. Agregar el script dev con node --watch (incluido en Node desde la versión 18; estable en las versiones actuales): evita tener que cortar y reiniciar el servidor después de cada cambio. La versión exacta de express puede variar; el ^ indica "compatible con".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Ejecutarlo en vivo y abrir http://localhost:3000 en el navegador. Explicar localhost (mi propia máquina) y el puerto (la "puerta" por la que escucha el servidor). Se corta con Ctrl+C. La idea de esta diapositiva es motivar Express.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Escribirlo en vivo. Comparar con la diapositiva anterior. Leer en voz alta la ruta: "cuando llegue un pedido GET a la raíz, respondé con este texto". Esa lectura en castellano es la que queremos que internalicen.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Conectar con la clase de HTTP/REST. Remarcar que /api/libros con GET lista y con POST crea: la URL nombra el recurso y el método dice qué hacer. Hoy practicamos GET y POST; PUT y DELETE siguen la misma lógica. Usamos "libros" como ejemplo para que el ejercicio (otra temática) no sea copiar y pegar.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Diapositiva clave para el ejercicio. Señalar cada parte de la URL. Error frecuente: req.params.id llega como string "2", y si comparamos con === contra el número 2 da false. Por eso hay que convertirlo con Number(). Códigos a recordar: 200 OK, 201 creado, 400 datos inválidos, 404 no encontrado.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Los datos están en un array en memoria (se pierden al reiniciar; más adelante se reemplaza por una base de datos o archivo). Probar en el navegador: /api/libros, /api/libros/1 y /api/libros/99 para ver el 404. Insistir en el return antes de res.status(404): sin él, Express intenta responder dos veces y tira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El "|| {}" protege el caso en que el pedido llega sin JSON: en Express 5 (la versión actual), req.body queda undefined y desestructurarlo rompe el servidor (lo probamos). La validación es la misma idea que la validación de formularios en el frontend, pero del lado del servidor: nunca confiar en lo que manda el cliente. El id con length + 1 alcanza por ahora; si borran elementos conviene otra estrategia.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Recomendar Thunder Client porque está dentro de VS Code. El header Content-Type: application/json es obligatorio para que express.json() lea el body; es el olvido más común. El fetch es el mismo que ya usaron para leer JSON locales.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Esta es la herramienta concreta para el MVP: un solo servidor que entrega el frontend y expone la API. Si abren el HTML con Live Server (otro puerto) y la API en el 3000, el navegador bloquea por CORS; con express.static lo evitan. Lo que ya hicieron con fetch a un JSON local pasa a apuntar a /api/....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Leer el error es una habilidad: el mensaje casi siempre dice qué pasa. Pedirles que tengan esta diapositiva a mano durante el ejercicio (está también en el enunciado).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Repasar las 4 ideas. Repartir/publicar el enunciado del ejercicio. Armar parejas o grupos del proyecto. Marcar el tiempo: 30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822960"/>
            <a:ext cx="2377440" cy="2068373"/>
          </a:xfrm>
          <a:prstGeom prst="hexagon">
            <a:avLst/>
          </a:prstGeom>
          <a:solidFill>
            <a:srgbClr val="5FA04E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2057400"/>
            <a:ext cx="2377440" cy="2068373"/>
          </a:xfrm>
          <a:prstGeom prst="hexagon">
            <a:avLst/>
          </a:prstGeom>
          <a:solidFill>
            <a:srgbClr val="5FA04E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3291840"/>
            <a:ext cx="2377440" cy="2068373"/>
          </a:xfrm>
          <a:prstGeom prst="hexagon">
            <a:avLst/>
          </a:prstGeom>
          <a:solidFill>
            <a:srgbClr val="8CC84B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966960" y="-411480"/>
            <a:ext cx="2377440" cy="2068373"/>
          </a:xfrm>
          <a:prstGeom prst="hexagon">
            <a:avLst/>
          </a:prstGeom>
          <a:ln w="19050">
            <a:solidFill>
              <a:srgbClr val="5FA04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4526280"/>
            <a:ext cx="2377440" cy="2068373"/>
          </a:xfrm>
          <a:prstGeom prst="hexagon">
            <a:avLst/>
          </a:prstGeom>
          <a:ln w="19050">
            <a:solidFill>
              <a:srgbClr val="5FA04E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822960"/>
            <a:ext cx="23774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E1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F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 PROFESIONALIZANTES 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8CC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del lado del servidor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navegador al backend de tu proyecto: módulos, npm y tu primera API con Express.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4956048"/>
            <a:ext cx="329184" cy="283464"/>
          </a:xfrm>
          <a:prstGeom prst="hexagon">
            <a:avLst/>
          </a:prstGeom>
          <a:solidFill>
            <a:srgbClr val="5FA04E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8463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 </a:t>
            </a:r>
            <a:pPr indent="0" marL="0">
              <a:buNone/>
            </a:pPr>
            <a:r>
              <a:rPr lang="en-US" sz="2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Marinoni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5897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Tecnicatura Superior en Desarrollo de Software  ·  CRUI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0" y="292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5F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713232" cy="621792"/>
          </a:xfrm>
          <a:prstGeom prst="hexagon">
            <a:avLst/>
          </a:prstGeom>
          <a:solidFill>
            <a:srgbClr val="5FA04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463040" y="5486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vamos a ver hoy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65960"/>
            <a:ext cx="777240" cy="676199"/>
          </a:xfrm>
          <a:prstGeom prst="hexagon">
            <a:avLst/>
          </a:prstGeom>
          <a:solidFill>
            <a:srgbClr val="5FA04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65960"/>
            <a:ext cx="777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Node.js?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es, en qué se diferencia del navegador y cómo trabaja.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64992" y="169164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39312" y="1965960"/>
            <a:ext cx="777240" cy="676199"/>
          </a:xfrm>
          <a:prstGeom prst="hexagon">
            <a:avLst/>
          </a:prstGeom>
          <a:solidFill>
            <a:srgbClr val="8CC84B"/>
          </a:solidFill>
          <a:ln/>
        </p:spPr>
      </p:sp>
      <p:sp>
        <p:nvSpPr>
          <p:cNvPr id="13" name="Text 11"/>
          <p:cNvSpPr/>
          <p:nvPr/>
        </p:nvSpPr>
        <p:spPr>
          <a:xfrm>
            <a:off x="3639312" y="1965960"/>
            <a:ext cx="777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39312" y="28803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en acción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639312" y="36118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Módulos, módulos nativos, npm y package.json.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81344" y="169164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55664" y="1965960"/>
            <a:ext cx="777240" cy="676199"/>
          </a:xfrm>
          <a:prstGeom prst="hexagon">
            <a:avLst/>
          </a:prstGeom>
          <a:solidFill>
            <a:srgbClr val="F2A31C"/>
          </a:solidFill>
          <a:ln/>
        </p:spPr>
      </p:sp>
      <p:sp>
        <p:nvSpPr>
          <p:cNvPr id="18" name="Text 16"/>
          <p:cNvSpPr/>
          <p:nvPr/>
        </p:nvSpPr>
        <p:spPr>
          <a:xfrm>
            <a:off x="6455664" y="1965960"/>
            <a:ext cx="777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55664" y="28803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con Express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55664" y="36118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Rutas, métodos HTTP, req/res, GET y POST.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997696" y="169164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72016" y="1965960"/>
            <a:ext cx="777240" cy="676199"/>
          </a:xfrm>
          <a:prstGeom prst="hexagon">
            <a:avLst/>
          </a:prstGeom>
          <a:solidFill>
            <a:srgbClr val="7FD1FF"/>
          </a:solidFill>
          <a:ln/>
        </p:spPr>
      </p:sp>
      <p:sp>
        <p:nvSpPr>
          <p:cNvPr id="23" name="Text 21"/>
          <p:cNvSpPr/>
          <p:nvPr/>
        </p:nvSpPr>
        <p:spPr>
          <a:xfrm>
            <a:off x="9272016" y="1965960"/>
            <a:ext cx="777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72016" y="28803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 proyecto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272016" y="36118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la API, conectarla al frontend y errores comunes.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3261A"/>
          </a:solidFill>
          <a:ln w="12700">
            <a:solidFill>
              <a:srgbClr val="2D5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257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CC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 </a:t>
            </a:r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 con ejemplos   →   </a:t>
            </a:r>
            <a:pPr indent="0" marL="0">
              <a:buNone/>
            </a:pPr>
            <a:r>
              <a:rPr lang="en-US" sz="1800" b="1" dirty="0">
                <a:solidFill>
                  <a:srgbClr val="F2A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</a:t>
            </a:r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práctico   →   </a:t>
            </a:r>
            <a:pPr indent="0" marL="0">
              <a:buNone/>
            </a:pPr>
            <a:r>
              <a:rPr lang="en-US" sz="1800" b="1" dirty="0">
                <a:solidFill>
                  <a:srgbClr val="7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0" y="292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5F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¿QUÉ ES NODE.JS?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713232" cy="621792"/>
          </a:xfrm>
          <a:prstGeom prst="hexagon">
            <a:avLst/>
          </a:prstGeom>
          <a:solidFill>
            <a:srgbClr val="5FA04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463040" y="5486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estamos en el proyecto?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154680" cy="2743200"/>
          </a:xfrm>
          <a:prstGeom prst="roundRect">
            <a:avLst>
              <a:gd name="adj" fmla="val 2667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7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AHORA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7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2461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saben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58768" y="3063240"/>
            <a:ext cx="603504" cy="45720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6280" y="1965960"/>
            <a:ext cx="3154680" cy="2743200"/>
          </a:xfrm>
          <a:prstGeom prst="roundRect">
            <a:avLst>
              <a:gd name="adj" fmla="val 2667"/>
            </a:avLst>
          </a:prstGeom>
          <a:solidFill>
            <a:srgbClr val="15281C"/>
          </a:solidFill>
          <a:ln w="31750">
            <a:solidFill>
              <a:srgbClr val="5FA0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5087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F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240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5F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0060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00600" y="32461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pedidos y responde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44968" y="3063240"/>
            <a:ext cx="603504" cy="45720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8" name="Shape 16"/>
          <p:cNvSpPr/>
          <p:nvPr/>
        </p:nvSpPr>
        <p:spPr>
          <a:xfrm>
            <a:off x="8412480" y="1965960"/>
            <a:ext cx="3154680" cy="2743200"/>
          </a:xfrm>
          <a:prstGeom prst="roundRect">
            <a:avLst>
              <a:gd name="adj" fmla="val 2667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15087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2A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ADELANTE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0" y="2240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2A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68680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0" y="32461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base de datos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viven los datos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</a:t>
            </a:r>
            <a:pPr algn="ctr" indent="0" marL="0">
              <a:buNone/>
            </a:pPr>
            <a:r>
              <a:rPr lang="en-US" sz="1800" b="1" dirty="0">
                <a:solidFill>
                  <a:srgbClr val="7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</a:t>
            </a:r>
            <a:pPr algn="ctr"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(request)  →  el servidor </a:t>
            </a:r>
            <a:pPr algn="ctr" indent="0" marL="0">
              <a:buNone/>
            </a:pPr>
            <a:r>
              <a:rPr lang="en-US" sz="1800" b="1" dirty="0">
                <a:solidFill>
                  <a:srgbClr val="5F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</a:t>
            </a:r>
            <a:pPr algn="ctr"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(response), casi siempre en JSON.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0" y="292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5F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¿QUÉ ES NODE.JS?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713232" cy="621792"/>
          </a:xfrm>
          <a:prstGeom prst="hexagon">
            <a:avLst/>
          </a:prstGeom>
          <a:solidFill>
            <a:srgbClr val="5FA04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463040" y="5486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Node.js?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08792" cy="1920240"/>
          </a:xfrm>
          <a:prstGeom prst="roundRect">
            <a:avLst>
              <a:gd name="adj" fmla="val 3810"/>
            </a:avLst>
          </a:prstGeom>
          <a:solidFill>
            <a:srgbClr val="13261A"/>
          </a:solidFill>
          <a:ln w="12700">
            <a:solidFill>
              <a:srgbClr val="2D5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544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es un </a:t>
            </a:r>
            <a:pPr indent="0" marL="0">
              <a:buNone/>
            </a:pPr>
            <a:r>
              <a:rPr lang="en-US" sz="2700" b="1" dirty="0">
                <a:solidFill>
                  <a:srgbClr val="8CC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 ejecución</a:t>
            </a:r>
            <a:pPr indent="0" marL="0">
              <a:buNone/>
            </a:pPr>
            <a:r>
              <a:rPr lang="en-US" sz="27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permite correr </a:t>
            </a:r>
            <a:pPr indent="0" marL="0">
              <a:buNone/>
            </a:pPr>
            <a:r>
              <a:rPr lang="en-US" sz="2700" b="1" dirty="0">
                <a:solidFill>
                  <a:srgbClr val="8CC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fuera del navegador</a:t>
            </a:r>
            <a:pPr indent="0" marL="0">
              <a:buNone/>
            </a:pPr>
            <a:r>
              <a:rPr lang="en-US" sz="27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en tu computadora o en un servidor.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3502152" cy="1600200"/>
          </a:xfrm>
          <a:prstGeom prst="roundRect">
            <a:avLst>
              <a:gd name="adj" fmla="val 4571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023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es un lenguaje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5262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el mismo JavaScript que ya conocen.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325112" y="3840480"/>
            <a:ext cx="3502152" cy="1600200"/>
          </a:xfrm>
          <a:prstGeom prst="roundRect">
            <a:avLst>
              <a:gd name="adj" fmla="val 4571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4023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es un framework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99432" y="45262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base sobre la que corren frameworks como Express.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10144" y="3840480"/>
            <a:ext cx="3502152" cy="1600200"/>
          </a:xfrm>
          <a:prstGeom prst="roundRect">
            <a:avLst>
              <a:gd name="adj" fmla="val 4571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84464" y="4023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F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Usa el motor V8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84464" y="45262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motor de JavaScript de Google Chrome.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 en 2009 por Ryan Dahl. Hoy es una de las tecnologías de backend más usadas del mundo.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0" y="292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5F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¿QUÉ ES NODE.JS?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713232" cy="621792"/>
          </a:xfrm>
          <a:prstGeom prst="hexagon">
            <a:avLst/>
          </a:prstGeom>
          <a:solidFill>
            <a:srgbClr val="5FA04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463040" y="5486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lenguaje, distinto lugar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17212B"/>
          </a:solidFill>
          <a:ln w="19050">
            <a:solidFill>
              <a:srgbClr val="7FD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7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400"/>
              </a:spcAft>
              <a:buSzPct val="100000"/>
              <a:buChar char="▸"/>
            </a:pPr>
            <a:r>
              <a:rPr lang="en-US" sz="17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en la PC del usuario</a:t>
            </a:r>
            <a:endParaRPr lang="en-US" sz="1700" dirty="0"/>
          </a:p>
          <a:p>
            <a:pPr marL="254000" indent="-254000">
              <a:spcAft>
                <a:spcPts val="1400"/>
              </a:spcAft>
              <a:buSzPct val="100000"/>
              <a:buChar char="▸"/>
            </a:pPr>
            <a:r>
              <a:rPr lang="en-US" sz="17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al DOM: document, window</a:t>
            </a:r>
            <a:endParaRPr lang="en-US" sz="1700" dirty="0"/>
          </a:p>
          <a:p>
            <a:pPr marL="254000" indent="-254000">
              <a:spcAft>
                <a:spcPts val="1400"/>
              </a:spcAft>
              <a:buSzPct val="100000"/>
              <a:buChar char="▸"/>
            </a:pPr>
            <a:r>
              <a:rPr lang="en-US" sz="17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 la interfaz y los eventos</a:t>
            </a:r>
            <a:endParaRPr lang="en-US" sz="1700" dirty="0"/>
          </a:p>
          <a:p>
            <a:pPr marL="254000" indent="-254000">
              <a:spcAft>
                <a:spcPts val="1400"/>
              </a:spcAft>
              <a:buSzPct val="100000"/>
              <a:buChar char="▸"/>
            </a:pPr>
            <a:r>
              <a:rPr lang="en-US" sz="17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 leer archivos del disco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45352" y="1554480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17212B"/>
          </a:solidFill>
          <a:ln w="19050">
            <a:solidFill>
              <a:srgbClr val="5FA0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11112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5F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11112" y="246888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400"/>
              </a:spcAft>
              <a:buSzPct val="100000"/>
              <a:buChar char="▸"/>
            </a:pPr>
            <a:r>
              <a:rPr lang="en-US" sz="17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en el servidor (o tu PC)</a:t>
            </a:r>
            <a:endParaRPr lang="en-US" sz="1700" dirty="0"/>
          </a:p>
          <a:p>
            <a:pPr marL="254000" indent="-254000">
              <a:spcAft>
                <a:spcPts val="1400"/>
              </a:spcAft>
              <a:buSzPct val="100000"/>
              <a:buChar char="▸"/>
            </a:pPr>
            <a:r>
              <a:rPr lang="en-US" sz="17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a archivos (fs), red (http), process</a:t>
            </a:r>
            <a:endParaRPr lang="en-US" sz="1700" dirty="0"/>
          </a:p>
          <a:p>
            <a:pPr marL="254000" indent="-254000">
              <a:spcAft>
                <a:spcPts val="1400"/>
              </a:spcAft>
              <a:buSzPct val="100000"/>
              <a:buChar char="▸"/>
            </a:pPr>
            <a:r>
              <a:rPr lang="en-US" sz="17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Atiende pedidos y maneja datos</a:t>
            </a:r>
            <a:endParaRPr lang="en-US" sz="1700" dirty="0"/>
          </a:p>
          <a:p>
            <a:pPr marL="254000" indent="-254000">
              <a:spcAft>
                <a:spcPts val="1400"/>
              </a:spcAft>
              <a:buSzPct val="100000"/>
              <a:buChar char="▸"/>
            </a:pPr>
            <a:r>
              <a:rPr lang="en-US" sz="17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 DOM: no existe document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270248" y="5166360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2A2112"/>
          </a:solidFill>
          <a:ln w="12700">
            <a:solidFill>
              <a:srgbClr val="F2A3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0248" y="51663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A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hablan JavaScript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0" y="292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5F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¿QUÉ ES NODE.JS?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713232" cy="621792"/>
          </a:xfrm>
          <a:prstGeom prst="hexagon">
            <a:avLst/>
          </a:prstGeom>
          <a:solidFill>
            <a:srgbClr val="5FA04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463040" y="5486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usar Node.js?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2587752" cy="3429000"/>
          </a:xfrm>
          <a:prstGeom prst="roundRect">
            <a:avLst>
              <a:gd name="adj" fmla="val 2827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288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5FA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en el frontend y en el backend. Menos cosas para aprender.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10712" y="1600200"/>
            <a:ext cx="2587752" cy="3429000"/>
          </a:xfrm>
          <a:prstGeom prst="roundRect">
            <a:avLst>
              <a:gd name="adj" fmla="val 2827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18288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8CC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3639312" y="3063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39312" y="352044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de paquetes de código más grande del mundo.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81344" y="1600200"/>
            <a:ext cx="2587752" cy="3429000"/>
          </a:xfrm>
          <a:prstGeom prst="roundRect">
            <a:avLst>
              <a:gd name="adj" fmla="val 2827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9944" y="18288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F2A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6600" dirty="0"/>
          </a:p>
        </p:txBody>
      </p:sp>
      <p:sp>
        <p:nvSpPr>
          <p:cNvPr id="16" name="Text 14"/>
          <p:cNvSpPr/>
          <p:nvPr/>
        </p:nvSpPr>
        <p:spPr>
          <a:xfrm>
            <a:off x="6409944" y="3063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9944" y="352044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no bloqueante: atiende muchos pedidos a la vez.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51976" y="1600200"/>
            <a:ext cx="2587752" cy="3429000"/>
          </a:xfrm>
          <a:prstGeom prst="roundRect">
            <a:avLst>
              <a:gd name="adj" fmla="val 2827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0576" y="18288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7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600" dirty="0"/>
          </a:p>
        </p:txBody>
      </p:sp>
      <p:sp>
        <p:nvSpPr>
          <p:cNvPr id="20" name="Text 18"/>
          <p:cNvSpPr/>
          <p:nvPr/>
        </p:nvSpPr>
        <p:spPr>
          <a:xfrm>
            <a:off x="9180576" y="3063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80576" y="352044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usan empresas como Netflix, PayPal y LinkedIn.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0" y="292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5F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¿QUÉ ES NODE.JS?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713232" cy="621792"/>
          </a:xfrm>
          <a:prstGeom prst="hexagon">
            <a:avLst/>
          </a:prstGeom>
          <a:solidFill>
            <a:srgbClr val="5FA04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463040" y="5486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trabaja? La analogía del mozo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303520" cy="3154680"/>
          </a:xfrm>
          <a:prstGeom prst="roundRect">
            <a:avLst>
              <a:gd name="adj" fmla="val 2319"/>
            </a:avLst>
          </a:prstGeom>
          <a:solidFill>
            <a:srgbClr val="17212B"/>
          </a:solidFill>
          <a:ln w="12700">
            <a:solidFill>
              <a:srgbClr val="E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Mozo "bloqueante"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Toma el pedido de la mesa 1.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Se queda parado en la cocina esperando que esté listo.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Recién después atiende la mesa 2.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E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mesas esperando sin sentido.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45352" y="1554480"/>
            <a:ext cx="5303520" cy="3154680"/>
          </a:xfrm>
          <a:prstGeom prst="roundRect">
            <a:avLst>
              <a:gd name="adj" fmla="val 2319"/>
            </a:avLst>
          </a:prstGeom>
          <a:solidFill>
            <a:srgbClr val="15281C"/>
          </a:solidFill>
          <a:ln w="25400">
            <a:solidFill>
              <a:srgbClr val="5FA0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CC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Mozo Node.js (no bloqueante)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65392" y="233172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Toma el pedido y lo deja en la cocina.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Mientras se cocina, atiende otras mesas.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Cuando la cocina avisa, lleva el plato.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8CC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un solo mozo atiende muchas mesas.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5074920"/>
            <a:ext cx="3502152" cy="914400"/>
          </a:xfrm>
          <a:prstGeom prst="roundRect">
            <a:avLst>
              <a:gd name="adj" fmla="val 8000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074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Mozo  =  </a:t>
            </a:r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hilo principal (event loop)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25112" y="5074920"/>
            <a:ext cx="3502152" cy="914400"/>
          </a:xfrm>
          <a:prstGeom prst="roundRect">
            <a:avLst>
              <a:gd name="adj" fmla="val 8000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5074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Cocina  =  </a:t>
            </a:r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disco, red, base de datos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10144" y="5074920"/>
            <a:ext cx="3502152" cy="914400"/>
          </a:xfrm>
          <a:prstGeom prst="roundRect">
            <a:avLst>
              <a:gd name="adj" fmla="val 8000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38744" y="5074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 =  </a:t>
            </a:r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callback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0" y="292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5F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¿QUÉ ES NODE.JS?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713232" cy="621792"/>
          </a:xfrm>
          <a:prstGeom prst="hexagon">
            <a:avLst/>
          </a:prstGeom>
          <a:solidFill>
            <a:srgbClr val="5FA04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463040" y="5486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bloqueante, en código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6766560" cy="3566160"/>
          </a:xfrm>
          <a:prstGeom prst="roundRect">
            <a:avLst>
              <a:gd name="adj" fmla="val 2051"/>
            </a:avLst>
          </a:prstGeom>
          <a:solidFill>
            <a:srgbClr val="0A0F14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642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16642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16642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158191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lectura.js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965960"/>
            <a:ext cx="63550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fs =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'fs'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'1. Pido leer el archivo'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fs.readFile(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'saludo.txt'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'utf8'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(err, data)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'3. Llegó el contenido:'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data);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'2. Sigo trabajando sin esperar'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680960" y="1508760"/>
            <a:ext cx="3867912" cy="3566160"/>
          </a:xfrm>
          <a:prstGeom prst="roundRect">
            <a:avLst>
              <a:gd name="adj" fmla="val 2051"/>
            </a:avLst>
          </a:prstGeom>
          <a:solidFill>
            <a:srgbClr val="0A0F14"/>
          </a:solidFill>
          <a:ln w="12700">
            <a:solidFill>
              <a:srgbClr val="5FA0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16642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8065008" y="16642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66176" y="16642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1581912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09560" y="1965960"/>
            <a:ext cx="3456432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8CC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lectura.js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Pido leer el archivo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Sigo trabajando sin esperar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Llegó el contenido: Hola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34924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2A2112"/>
          </a:solidFill>
          <a:ln w="12700">
            <a:solidFill>
              <a:srgbClr val="F2A3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3492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el "2" sale antes que el "3"?  Node pidió el archivo, no se quedó esperando y siguió con la línea siguiente. El callback corre cuando el archivo está listo.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0" y="292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5F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NODE EN ACCIÓN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713232" cy="621792"/>
          </a:xfrm>
          <a:prstGeom prst="hexagon">
            <a:avLst/>
          </a:prstGeom>
          <a:solidFill>
            <a:srgbClr val="5FA04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463040" y="5486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pasos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0A0F14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642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16642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16642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15819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· verificar instalación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965960"/>
            <a:ext cx="49834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8CC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v22.x.x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8CC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-v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10.x.x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1508760"/>
            <a:ext cx="5239512" cy="2194560"/>
          </a:xfrm>
          <a:prstGeom prst="roundRect">
            <a:avLst>
              <a:gd name="adj" fmla="val 3333"/>
            </a:avLst>
          </a:prstGeom>
          <a:solidFill>
            <a:srgbClr val="0A0F14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6642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693408" y="16642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894576" y="16642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158191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hola.js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1965960"/>
            <a:ext cx="482803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hola.js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nombre =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'CRUI'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`Hola, ${nombre}!`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09360" y="3931920"/>
            <a:ext cx="5239512" cy="1325880"/>
          </a:xfrm>
          <a:prstGeom prst="roundRect">
            <a:avLst>
              <a:gd name="adj" fmla="val 5517"/>
            </a:avLst>
          </a:prstGeom>
          <a:solidFill>
            <a:srgbClr val="0A0F14"/>
          </a:solidFill>
          <a:ln w="12700">
            <a:solidFill>
              <a:srgbClr val="5FA04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08736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6693408" y="408736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894576" y="408736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7178040" y="400507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4389120"/>
            <a:ext cx="48280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8CC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hola.js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Hola, CRUI!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" y="393192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114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CC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instalar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4400" y="45720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la versión LTS desde nodejs.org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se instala junto con Node</a:t>
            </a:r>
            <a:endParaRPr lang="en-US" sz="1500" dirty="0"/>
          </a:p>
          <a:p>
            <a:pPr marL="228600" indent="-228600">
              <a:buSzPct val="100000"/>
              <a:buChar char="▸"/>
            </a:pPr>
            <a:r>
              <a:rPr lang="en-US" sz="15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un archivo: node nombre.js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0" y="292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5F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NODE EN ACCIÓN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713232" cy="621792"/>
          </a:xfrm>
          <a:prstGeom prst="hexagon">
            <a:avLst/>
          </a:prstGeom>
          <a:solidFill>
            <a:srgbClr val="5FA04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463040" y="5486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Módulos: dividir el código en archivos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5486400" cy="2834640"/>
          </a:xfrm>
          <a:prstGeom prst="roundRect">
            <a:avLst>
              <a:gd name="adj" fmla="val 2581"/>
            </a:avLst>
          </a:prstGeom>
          <a:solidFill>
            <a:srgbClr val="0A0F14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642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16642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16642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15819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calculos.js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965960"/>
            <a:ext cx="50749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calculos.js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sumar(a, b)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aplicarIVA(precio)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precio *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1.21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 = { sumar, aplicarIVA };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55080" y="1508760"/>
            <a:ext cx="5193792" cy="2834640"/>
          </a:xfrm>
          <a:prstGeom prst="roundRect">
            <a:avLst>
              <a:gd name="adj" fmla="val 2581"/>
            </a:avLst>
          </a:prstGeom>
          <a:solidFill>
            <a:srgbClr val="0A0F14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16642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739128" y="16642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940296" y="16642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1581912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1965960"/>
            <a:ext cx="4782312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app.js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sumar, aplicarIVA } =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'./calculos'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console.log(sumar(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      </a:t>
            </a:r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console.log(aplicarIVA(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 </a:t>
            </a:r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1210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617720"/>
            <a:ext cx="5422392" cy="1554480"/>
          </a:xfrm>
          <a:prstGeom prst="roundRect">
            <a:avLst>
              <a:gd name="adj" fmla="val 4706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800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FA0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53035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ofrece el archivo hacia afuera.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26480" y="4617720"/>
            <a:ext cx="5422392" cy="1554480"/>
          </a:xfrm>
          <a:prstGeom prst="roundRect">
            <a:avLst>
              <a:gd name="adj" fmla="val 4706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4800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require('./archivo')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0" y="53035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lo que otro archivo exporta. El ./ indica un archivo propio.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0" y="292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5F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NODE EN ACCIÓN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713232" cy="621792"/>
          </a:xfrm>
          <a:prstGeom prst="hexagon">
            <a:avLst/>
          </a:prstGeom>
          <a:solidFill>
            <a:srgbClr val="5FA04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463040" y="5486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nativos: vienen incluidos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74520"/>
            <a:ext cx="1143000" cy="994410"/>
          </a:xfrm>
          <a:prstGeom prst="hexagon">
            <a:avLst/>
          </a:prstGeom>
          <a:solidFill>
            <a:srgbClr val="5FA04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74520"/>
            <a:ext cx="114300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331720" y="1828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331720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y escribir archivos.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331720" y="28346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FA0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fs.readFile('datos.json')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53912" y="15544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28232" y="1874520"/>
            <a:ext cx="1143000" cy="994410"/>
          </a:xfrm>
          <a:prstGeom prst="hexagon">
            <a:avLst/>
          </a:prstGeom>
          <a:solidFill>
            <a:srgbClr val="8CC84B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874520"/>
            <a:ext cx="114300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845552" y="1828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845552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Armar rutas de archivos sin errores.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845552" y="28346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CC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path.join('public', 'img')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37947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114800"/>
            <a:ext cx="1143000" cy="994410"/>
          </a:xfrm>
          <a:prstGeom prst="hexagon">
            <a:avLst/>
          </a:prstGeom>
          <a:solidFill>
            <a:srgbClr val="F2A31C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114800"/>
            <a:ext cx="114300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331720" y="4069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web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2331720" y="4526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servidores y atender pedidos.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331720" y="50749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http.createServer(...)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53912" y="37947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28232" y="4114800"/>
            <a:ext cx="1143000" cy="994410"/>
          </a:xfrm>
          <a:prstGeom prst="hexagon">
            <a:avLst/>
          </a:prstGeom>
          <a:solidFill>
            <a:srgbClr val="7FD1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28232" y="4114800"/>
            <a:ext cx="114300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845552" y="4069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845552" y="4526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del sistema operativo.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845552" y="50749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os.platform()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usan con require('fs'), sin instalar nada: no llevan ./ porque no son archivos propios.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0" y="292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5F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NODE EN ACCIÓN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713232" cy="621792"/>
          </a:xfrm>
          <a:prstGeom prst="hexagon">
            <a:avLst/>
          </a:prstGeom>
          <a:solidFill>
            <a:srgbClr val="5FA04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463040" y="5486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npm: el gestor de paquetes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383280" cy="2971800"/>
          </a:xfrm>
          <a:prstGeom prst="roundRect">
            <a:avLst>
              <a:gd name="adj" fmla="val 2462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731520" cy="636422"/>
          </a:xfrm>
          <a:prstGeom prst="hexagon">
            <a:avLst/>
          </a:prstGeom>
          <a:solidFill>
            <a:srgbClr val="5FA04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288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68680" y="269748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0A0F14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697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FA0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init -y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package.json, la "ficha" del proyecto.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050792" y="2816352"/>
            <a:ext cx="310896" cy="310896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9120" y="1600200"/>
            <a:ext cx="3383280" cy="2971800"/>
          </a:xfrm>
          <a:prstGeom prst="roundRect">
            <a:avLst>
              <a:gd name="adj" fmla="val 2462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828800"/>
            <a:ext cx="731520" cy="636422"/>
          </a:xfrm>
          <a:prstGeom prst="hexagon">
            <a:avLst/>
          </a:prstGeom>
          <a:solidFill>
            <a:srgbClr val="F2A31C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8288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617720" y="269748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0A0F14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697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install express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63440" y="342900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el paquete en node_modules y lo anota en package.json.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799832" y="2816352"/>
            <a:ext cx="310896" cy="310896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0" name="Shape 18"/>
          <p:cNvSpPr/>
          <p:nvPr/>
        </p:nvSpPr>
        <p:spPr>
          <a:xfrm>
            <a:off x="8138160" y="1600200"/>
            <a:ext cx="3383280" cy="2971800"/>
          </a:xfrm>
          <a:prstGeom prst="roundRect">
            <a:avLst>
              <a:gd name="adj" fmla="val 2462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1828800"/>
            <a:ext cx="731520" cy="636422"/>
          </a:xfrm>
          <a:prstGeom prst="hexagon">
            <a:avLst/>
          </a:prstGeom>
          <a:solidFill>
            <a:srgbClr val="7FD1FF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0" y="18288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366760" y="269748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0A0F14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2697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install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412480" y="342900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clonar un repo: reinstala todo lo que figura en package.json.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0080" y="4892040"/>
            <a:ext cx="10908792" cy="1234440"/>
          </a:xfrm>
          <a:prstGeom prst="roundRect">
            <a:avLst>
              <a:gd name="adj" fmla="val 5926"/>
            </a:avLst>
          </a:prstGeom>
          <a:solidFill>
            <a:srgbClr val="2E1717"/>
          </a:solidFill>
          <a:ln w="12700">
            <a:solidFill>
              <a:srgbClr val="EF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89204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¡Importante!  </a:t>
            </a:r>
            <a:pPr indent="0" marL="0">
              <a:buNone/>
            </a:pPr>
            <a:r>
              <a:rPr lang="en-US" sz="16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 </a:t>
            </a:r>
            <a:pPr indent="0" marL="0">
              <a:buNone/>
            </a:pPr>
            <a:r>
              <a:rPr lang="en-US" sz="16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sube a GitHub (es enorme y se regenera). Agreguen un archivo </a:t>
            </a:r>
            <a:pPr indent="0" marL="0">
              <a:buNone/>
            </a:pPr>
            <a:r>
              <a:rPr lang="en-US" sz="1650" b="1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pPr indent="0" marL="0">
              <a:buNone/>
            </a:pPr>
            <a:r>
              <a:rPr lang="en-US" sz="16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la línea </a:t>
            </a:r>
            <a:pPr indent="0" marL="0">
              <a:buNone/>
            </a:pPr>
            <a:r>
              <a:rPr lang="en-US" sz="1650" b="1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node_modules/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0" y="292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5F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NODE EN ACCIÓN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713232" cy="621792"/>
          </a:xfrm>
          <a:prstGeom prst="hexagon">
            <a:avLst/>
          </a:prstGeom>
          <a:solidFill>
            <a:srgbClr val="5FA04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463040" y="5486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package.json: la ficha del proyecto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6035040" cy="4480560"/>
          </a:xfrm>
          <a:prstGeom prst="roundRect">
            <a:avLst>
              <a:gd name="adj" fmla="val 1633"/>
            </a:avLst>
          </a:prstGeom>
          <a:solidFill>
            <a:srgbClr val="0A0F14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642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16642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16642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15819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package.json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965960"/>
            <a:ext cx="562356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"mi-proyecto"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"version"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"1.0.0"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"main"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"index.js"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"scripts"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"start"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"node index.js"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"dev"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"node --watch index.js"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"dependencies"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"express"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"^5.1.0"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949440" y="1508760"/>
            <a:ext cx="4599432" cy="987552"/>
          </a:xfrm>
          <a:prstGeom prst="roundRect">
            <a:avLst>
              <a:gd name="adj" fmla="val 7407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16184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/ version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23760" y="2011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Identifican el proyecto.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949440" y="2651760"/>
            <a:ext cx="4599432" cy="987552"/>
          </a:xfrm>
          <a:prstGeom prst="roundRect">
            <a:avLst>
              <a:gd name="adj" fmla="val 7407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27614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FA0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23760" y="3154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Atajos de comandos: npm start, npm run dev.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949440" y="3794760"/>
            <a:ext cx="4599432" cy="987552"/>
          </a:xfrm>
          <a:prstGeom prst="roundRect">
            <a:avLst>
              <a:gd name="adj" fmla="val 7407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39044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CC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--watch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23760" y="4297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Reinicia el servidor solo cada vez que guardás un cambio.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949440" y="4937760"/>
            <a:ext cx="4599432" cy="987552"/>
          </a:xfrm>
          <a:prstGeom prst="roundRect">
            <a:avLst>
              <a:gd name="adj" fmla="val 7407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50474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5440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paquetes que el proyecto necesita para funcionar.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0" y="292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5F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SERVIDORES CON EXPRESS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713232" cy="621792"/>
          </a:xfrm>
          <a:prstGeom prst="hexagon">
            <a:avLst/>
          </a:prstGeom>
          <a:solidFill>
            <a:srgbClr val="5FA04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463040" y="5486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servidor con Node "puro"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6858000" cy="3657600"/>
          </a:xfrm>
          <a:prstGeom prst="roundRect">
            <a:avLst>
              <a:gd name="adj" fmla="val 2000"/>
            </a:avLst>
          </a:prstGeom>
          <a:solidFill>
            <a:srgbClr val="0A0F14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642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16642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16642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158191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servidor.js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965960"/>
            <a:ext cx="644652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 =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'http'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servidor = http.createServer((req, res)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res.writeHead(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'Content-Type'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'text/plain'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res.end(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'¡Hola desde Node.js!'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servidor.listen(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3000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'http://localhost:3000'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0" y="1508760"/>
            <a:ext cx="3776472" cy="3657600"/>
          </a:xfrm>
          <a:prstGeom prst="roundRect">
            <a:avLst>
              <a:gd name="adj" fmla="val 2000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1737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Funciona, pero…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046720" y="233172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rutas (/productos, /usuarios) es manual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▸"/>
            </a:pPr>
            <a:r>
              <a:rPr lang="en-US" sz="15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GET de POST es manual</a:t>
            </a:r>
            <a:endParaRPr lang="en-US" sz="1500" dirty="0"/>
          </a:p>
          <a:p>
            <a:pPr marL="228600" indent="-228600">
              <a:buSzPct val="100000"/>
              <a:buChar char="▸"/>
            </a:pPr>
            <a:r>
              <a:rPr lang="en-US" sz="15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el JSON que manda el cliente es manual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5440680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13261A"/>
          </a:solidFill>
          <a:ln w="12700">
            <a:solidFill>
              <a:srgbClr val="2D5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440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C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eso existe Express: hace lo mismo con mucho menos código.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0" y="292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5F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SERVIDORES CON EXPRESS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713232" cy="621792"/>
          </a:xfrm>
          <a:prstGeom prst="hexagon">
            <a:avLst/>
          </a:prstGeom>
          <a:solidFill>
            <a:srgbClr val="5FA04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463040" y="5486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Express: el framework más usado de Node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6858000" cy="3931920"/>
          </a:xfrm>
          <a:prstGeom prst="roundRect">
            <a:avLst>
              <a:gd name="adj" fmla="val 1860"/>
            </a:avLst>
          </a:prstGeom>
          <a:solidFill>
            <a:srgbClr val="0A0F14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642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16642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16642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158191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index.js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965960"/>
            <a:ext cx="644652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express =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'express'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 = express();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PORT =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3000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'/'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'¡Hola desde Express!'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app.listen(PORT, ()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`http://localhost:${PORT}`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0" y="1508760"/>
            <a:ext cx="3776472" cy="868680"/>
          </a:xfrm>
          <a:prstGeom prst="roundRect">
            <a:avLst>
              <a:gd name="adj" fmla="val 8421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15819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8CC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001000" y="193852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aplicación: el servidor.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0" y="2514600"/>
            <a:ext cx="3776472" cy="868680"/>
          </a:xfrm>
          <a:prstGeom prst="roundRect">
            <a:avLst>
              <a:gd name="adj" fmla="val 8421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25877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8CC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app.get('/', …)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001000" y="294436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llegue un GET a "/", ejecutá esta función.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0" y="3520440"/>
            <a:ext cx="3776472" cy="868680"/>
          </a:xfrm>
          <a:prstGeom prst="roundRect">
            <a:avLst>
              <a:gd name="adj" fmla="val 8421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01000" y="35935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8CC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 / res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001000" y="395020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pedido que llega y la respuesta que mandamos.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4526280"/>
            <a:ext cx="3776472" cy="868680"/>
          </a:xfrm>
          <a:prstGeom prst="roundRect">
            <a:avLst>
              <a:gd name="adj" fmla="val 8421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1000" y="45994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8CC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app.listen(PORT)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001000" y="495604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Encender el servidor en ese puerto.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es un paquete de npm: primero  npm install express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0" y="292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5F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SERVIDORES CON EXPRESS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713232" cy="621792"/>
          </a:xfrm>
          <a:prstGeom prst="hexagon">
            <a:avLst/>
          </a:prstGeom>
          <a:solidFill>
            <a:srgbClr val="5FA04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463040" y="5486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HTTP y CRUD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1463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CRUD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EXPRESS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10908792" cy="841248"/>
          </a:xfrm>
          <a:prstGeom prst="roundRect">
            <a:avLst>
              <a:gd name="adj" fmla="val 8696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029968"/>
            <a:ext cx="1737360" cy="530352"/>
          </a:xfrm>
          <a:prstGeom prst="roundRect">
            <a:avLst>
              <a:gd name="adj" fmla="val 13793"/>
            </a:avLst>
          </a:prstGeom>
          <a:solidFill>
            <a:srgbClr val="5FA04E"/>
          </a:solidFill>
          <a:ln w="12700">
            <a:solidFill>
              <a:srgbClr val="5FA0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02996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108960" y="1874520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· leer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09360" y="1874520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A0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app.get('/api/libros', …)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2862072"/>
            <a:ext cx="10908792" cy="841248"/>
          </a:xfrm>
          <a:prstGeom prst="roundRect">
            <a:avLst>
              <a:gd name="adj" fmla="val 8696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017520"/>
            <a:ext cx="1737360" cy="530352"/>
          </a:xfrm>
          <a:prstGeom prst="roundRect">
            <a:avLst>
              <a:gd name="adj" fmla="val 13793"/>
            </a:avLst>
          </a:prstGeom>
          <a:solidFill>
            <a:srgbClr val="F2A31C"/>
          </a:solidFill>
          <a:ln w="12700">
            <a:solidFill>
              <a:srgbClr val="F2A3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01752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108960" y="2862072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· crear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09360" y="2862072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app.post('/api/libros', …)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3849624"/>
            <a:ext cx="10908792" cy="841248"/>
          </a:xfrm>
          <a:prstGeom prst="roundRect">
            <a:avLst>
              <a:gd name="adj" fmla="val 8696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005072"/>
            <a:ext cx="1737360" cy="530352"/>
          </a:xfrm>
          <a:prstGeom prst="roundRect">
            <a:avLst>
              <a:gd name="adj" fmla="val 13793"/>
            </a:avLst>
          </a:prstGeom>
          <a:solidFill>
            <a:srgbClr val="7FD1FF"/>
          </a:solidFill>
          <a:ln w="12700">
            <a:solidFill>
              <a:srgbClr val="7FD1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00507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108960" y="3849624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· modificar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09360" y="3849624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app.put('/api/libros/:id', …)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4837176"/>
            <a:ext cx="10908792" cy="841248"/>
          </a:xfrm>
          <a:prstGeom prst="roundRect">
            <a:avLst>
              <a:gd name="adj" fmla="val 8696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4992624"/>
            <a:ext cx="1737360" cy="530352"/>
          </a:xfrm>
          <a:prstGeom prst="roundRect">
            <a:avLst>
              <a:gd name="adj" fmla="val 13793"/>
            </a:avLst>
          </a:prstGeom>
          <a:solidFill>
            <a:srgbClr val="EF6B6B"/>
          </a:solidFill>
          <a:ln w="12700">
            <a:solidFill>
              <a:srgbClr val="E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99262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4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108960" y="4837176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· borrar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309360" y="4837176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app.delete('/api/libros/:id', …)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ruta, distinto método = distinta acción. CRUD = Create, Read, Update, Delete.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0" y="292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5F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SERVIDORES CON EXPRESS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713232" cy="621792"/>
          </a:xfrm>
          <a:prstGeom prst="hexagon">
            <a:avLst/>
          </a:prstGeom>
          <a:solidFill>
            <a:srgbClr val="5FA04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463040" y="5486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y res: el pedido y la respuesta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0A0F14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6304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FA0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</a:t>
            </a:r>
            <a:pPr indent="0" marL="0">
              <a:buNone/>
            </a:pPr>
            <a:r>
              <a:rPr lang="en-US" sz="2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/api/libros/</a:t>
            </a:r>
            <a:pPr indent="0" marL="0">
              <a:buNone/>
            </a:pPr>
            <a:r>
              <a:rPr lang="en-US" sz="2400" b="1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2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?orden=</a:t>
            </a:r>
            <a:pPr indent="0" marL="0">
              <a:buNone/>
            </a:pPr>
            <a:r>
              <a:rPr lang="en-US" sz="2400" b="1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req.params.id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749040" y="2697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"2"  → parte variable de la ruta (/:id). ¡Llega como texto!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req.query.orden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49040" y="34747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"titulo"  → lo que va después del ? en la URL.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0080" y="4251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C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req.body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49040" y="42519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que manda el cliente en un POST/PUT. Requiere app.use(express.json()).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5212080"/>
            <a:ext cx="3502152" cy="1005840"/>
          </a:xfrm>
          <a:prstGeom prst="roundRect">
            <a:avLst>
              <a:gd name="adj" fmla="val 7273"/>
            </a:avLst>
          </a:prstGeom>
          <a:solidFill>
            <a:srgbClr val="17212B"/>
          </a:solidFill>
          <a:ln w="12700">
            <a:solidFill>
              <a:srgbClr val="5FA0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303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FA0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res.json(obj)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5715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con JSON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25112" y="5212080"/>
            <a:ext cx="3502152" cy="1005840"/>
          </a:xfrm>
          <a:prstGeom prst="roundRect">
            <a:avLst>
              <a:gd name="adj" fmla="val 7273"/>
            </a:avLst>
          </a:prstGeom>
          <a:solidFill>
            <a:srgbClr val="17212B"/>
          </a:solidFill>
          <a:ln w="12700">
            <a:solidFill>
              <a:srgbClr val="5FA0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5303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FA0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res.status(404)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53712" y="5715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el código HTTP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10144" y="5212080"/>
            <a:ext cx="3502152" cy="1005840"/>
          </a:xfrm>
          <a:prstGeom prst="roundRect">
            <a:avLst>
              <a:gd name="adj" fmla="val 7273"/>
            </a:avLst>
          </a:prstGeom>
          <a:solidFill>
            <a:srgbClr val="17212B"/>
          </a:solidFill>
          <a:ln w="12700">
            <a:solidFill>
              <a:srgbClr val="5FA0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38744" y="5303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FA0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res.send(texto)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38744" y="5715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con texto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0" y="292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5F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SERVIDORES CON EXPRESS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713232" cy="621792"/>
          </a:xfrm>
          <a:prstGeom prst="hexagon">
            <a:avLst/>
          </a:prstGeom>
          <a:solidFill>
            <a:srgbClr val="5FA04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463040" y="5486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GET: listar y buscar por id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7223760" cy="4800600"/>
          </a:xfrm>
          <a:prstGeom prst="roundRect">
            <a:avLst>
              <a:gd name="adj" fmla="val 1524"/>
            </a:avLst>
          </a:prstGeom>
          <a:solidFill>
            <a:srgbClr val="0A0F14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1848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161848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161848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15361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index.js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6812280" cy="423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libros = [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titulo: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'Rayuela'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autor: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'Cortázar'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titulo: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'Ficciones'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autor: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'Borges'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'/api/libros'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res.json(libros);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'/api/libros/:id'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 = Number(req.params.id);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libro = libros.find(l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l.id === id);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(!libro) {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res.status(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).json({ error: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 encontrado'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res.json(libro);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38160" y="1463040"/>
            <a:ext cx="3410712" cy="1417320"/>
          </a:xfrm>
          <a:prstGeom prst="roundRect">
            <a:avLst>
              <a:gd name="adj" fmla="val 5161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600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Number(...)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66760" y="20299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el "2" (texto) en 2 (número).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38160" y="3063240"/>
            <a:ext cx="3410712" cy="1417320"/>
          </a:xfrm>
          <a:prstGeom prst="roundRect">
            <a:avLst>
              <a:gd name="adj" fmla="val 5161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3200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CC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.find()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66760" y="36301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el primer elemento que cumple la condición. Si no hay, devuelve undefined.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138160" y="4663440"/>
            <a:ext cx="3410712" cy="1417320"/>
          </a:xfrm>
          <a:prstGeom prst="roundRect">
            <a:avLst>
              <a:gd name="adj" fmla="val 5161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4800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66760" y="52303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 la función: evita enviar dos respuestas.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0" y="292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5F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SERVIDORES CON EXPRESS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713232" cy="621792"/>
          </a:xfrm>
          <a:prstGeom prst="hexagon">
            <a:avLst/>
          </a:prstGeom>
          <a:solidFill>
            <a:srgbClr val="5FA04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463040" y="5486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POST: crear un recurso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7223760" cy="4800600"/>
          </a:xfrm>
          <a:prstGeom prst="roundRect">
            <a:avLst>
              <a:gd name="adj" fmla="val 1524"/>
            </a:avLst>
          </a:prstGeom>
          <a:solidFill>
            <a:srgbClr val="0A0F14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1848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161848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161848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15361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index.js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6812280" cy="423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app.use(express.json()); </a:t>
            </a:r>
            <a:pPr indent="0" marL="0">
              <a:lnSpc>
                <a:spcPct val="105000"/>
              </a:lnSpc>
              <a:buNone/>
            </a:pPr>
            <a:r>
              <a:rPr lang="en-US" sz="145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← antes de las rutas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'/api/libros'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titulo, autor } = req.body || {};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(!titulo || !autor) {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res.status(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.json({ error: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'Faltan datos'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nuevo = { id: libros.length +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titulo, autor };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libros.push(nuevo);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).json(nuevo);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38160" y="1463040"/>
            <a:ext cx="3410712" cy="1417320"/>
          </a:xfrm>
          <a:prstGeom prst="roundRect">
            <a:avLst>
              <a:gd name="adj" fmla="val 5161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600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CC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express.json()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66760" y="20299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que convierte el JSON recibido en req.body.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38160" y="3063240"/>
            <a:ext cx="3410712" cy="1417320"/>
          </a:xfrm>
          <a:prstGeom prst="roundRect">
            <a:avLst>
              <a:gd name="adj" fmla="val 5161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3200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66760" y="36301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Request: el cliente mandó datos inválidos. Validar siempre.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138160" y="4663440"/>
            <a:ext cx="3410712" cy="1417320"/>
          </a:xfrm>
          <a:prstGeom prst="roundRect">
            <a:avLst>
              <a:gd name="adj" fmla="val 5161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4800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FA0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66760" y="52303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Created: el recurso se creó. Devolvemos el objeto nuevo.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0" y="292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5F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A TU PROYECTO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713232" cy="621792"/>
          </a:xfrm>
          <a:prstGeom prst="hexagon">
            <a:avLst/>
          </a:prstGeom>
          <a:solidFill>
            <a:srgbClr val="5FA04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463040" y="5486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pruebo mi API?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3502152" cy="1783080"/>
          </a:xfrm>
          <a:prstGeom prst="roundRect">
            <a:avLst>
              <a:gd name="adj" fmla="val 4103"/>
            </a:avLst>
          </a:prstGeom>
          <a:solidFill>
            <a:srgbClr val="17212B"/>
          </a:solidFill>
          <a:ln w="12700">
            <a:solidFill>
              <a:srgbClr val="7FD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la URL en la barra.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651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sirve para GET.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25112" y="1508760"/>
            <a:ext cx="3502152" cy="1783080"/>
          </a:xfrm>
          <a:prstGeom prst="roundRect">
            <a:avLst>
              <a:gd name="adj" fmla="val 4103"/>
            </a:avLst>
          </a:prstGeom>
          <a:solidFill>
            <a:srgbClr val="17212B"/>
          </a:solidFill>
          <a:ln w="12700">
            <a:solidFill>
              <a:srgbClr val="5FA0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691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F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Thunder Client / Postman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53712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de VS Code / app.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53712" y="2651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métodos, con body JSON.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10144" y="1508760"/>
            <a:ext cx="3502152" cy="1783080"/>
          </a:xfrm>
          <a:prstGeom prst="roundRect">
            <a:avLst>
              <a:gd name="adj" fmla="val 4103"/>
            </a:avLst>
          </a:prstGeom>
          <a:solidFill>
            <a:srgbClr val="17212B"/>
          </a:solidFill>
          <a:ln w="12700">
            <a:solidFill>
              <a:srgbClr val="F2A3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1691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A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en la consola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38744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F12 en http://localhost:3000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38744" y="2651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ver cómo lo usará el frontend.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3566160"/>
            <a:ext cx="10908792" cy="2651760"/>
          </a:xfrm>
          <a:prstGeom prst="roundRect">
            <a:avLst>
              <a:gd name="adj" fmla="val 2759"/>
            </a:avLst>
          </a:prstGeom>
          <a:solidFill>
            <a:srgbClr val="0A0F14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7216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4128" y="37216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1225296" y="37216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1508760" y="3639312"/>
            <a:ext cx="9902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Consola del navegador (F12) — en http://localhost:3000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4023360"/>
            <a:ext cx="1049731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'/api/libros'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method: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'POST'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headers: {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'Content-Type'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'application/json'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body: JSON.stringify({ titulo: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'El Aleph'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autor: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'Borges'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.then(res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res.json())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.then(data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console.log(data));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0" y="292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5F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A TU PROYECTO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713232" cy="621792"/>
          </a:xfrm>
          <a:prstGeom prst="hexagon">
            <a:avLst/>
          </a:prstGeom>
          <a:solidFill>
            <a:srgbClr val="5FA04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463040" y="5486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el backend con tu frontend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4846320" cy="3291840"/>
          </a:xfrm>
          <a:prstGeom prst="roundRect">
            <a:avLst>
              <a:gd name="adj" fmla="val 2222"/>
            </a:avLst>
          </a:prstGeom>
          <a:solidFill>
            <a:srgbClr val="0A0F14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1848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161848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225296" y="161848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1536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Estructura sugerida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443484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mi-proyecto/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index.js        ← servidor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package.json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.gitignore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public/         ← su frontend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index.html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css/estilos.css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js/main.js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15000" y="1463040"/>
            <a:ext cx="5833872" cy="1463040"/>
          </a:xfrm>
          <a:prstGeom prst="roundRect">
            <a:avLst>
              <a:gd name="adj" fmla="val 5000"/>
            </a:avLst>
          </a:prstGeom>
          <a:solidFill>
            <a:srgbClr val="0A0F14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97880" y="161848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9048" y="161848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300216" y="161848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536192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index.js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1920240"/>
            <a:ext cx="54223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index.js (servidor)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app.use(express.static(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'public'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715000" y="3108960"/>
            <a:ext cx="5833872" cy="1645920"/>
          </a:xfrm>
          <a:prstGeom prst="roundRect">
            <a:avLst>
              <a:gd name="adj" fmla="val 4444"/>
            </a:avLst>
          </a:prstGeom>
          <a:solidFill>
            <a:srgbClr val="0A0F14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97880" y="32644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9048" y="32644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0216" y="32644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3182112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3566160"/>
            <a:ext cx="54223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public/js/main.js (frontend)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 =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fetch(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A3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'/api/libros'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libros =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res.json();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5029200"/>
            <a:ext cx="10908792" cy="1188720"/>
          </a:xfrm>
          <a:prstGeom prst="roundRect">
            <a:avLst>
              <a:gd name="adj" fmla="val 6154"/>
            </a:avLst>
          </a:prstGeom>
          <a:solidFill>
            <a:srgbClr val="13261A"/>
          </a:solidFill>
          <a:ln w="12700">
            <a:solidFill>
              <a:srgbClr val="2D5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02920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8CC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express.static </a:t>
            </a:r>
            <a:pPr indent="0" marL="0">
              <a:buNone/>
            </a:pPr>
            <a:r>
              <a:rPr lang="en-US" sz="16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su HTML, CSS y JS desde el mismo servidor. Abren http://localhost:3000 y el frontend llama a la API con rutas relativas: </a:t>
            </a:r>
            <a:pPr indent="0" marL="0">
              <a:buNone/>
            </a:pPr>
            <a:r>
              <a:rPr lang="en-US" sz="1650" b="1" dirty="0">
                <a:solidFill>
                  <a:srgbClr val="8CC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origen, sin problemas de CORS.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0" y="292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5F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A TU PROYECTO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566928"/>
            <a:ext cx="713232" cy="621792"/>
          </a:xfrm>
          <a:prstGeom prst="hexagon">
            <a:avLst/>
          </a:prstGeom>
          <a:solidFill>
            <a:srgbClr val="5FA04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463040" y="5486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frecuentes (y cómo resolverlos)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63040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Cannot find module 'express'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35040" y="146304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1463040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instalar: npm install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249424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249424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EADDRINUSE: address already in use :3000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35040" y="224942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37960" y="2249424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hay un servidor corriendo: Ctrl+C o cambiar el puerto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035808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035808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req.body es undefined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035040" y="3035808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37960" y="3035808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app.use(express.json()) o el header Content-Type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3822192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822192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Cambié el código y no pasa nada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035040" y="382219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37960" y="3822192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Reiniciar el servidor o usar npm run dev (--watch)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4608576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608576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Cannot GET /api/…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035040" y="460857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37960" y="4608576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ruta o el método no coinciden con los definidos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5394960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17212B"/>
          </a:solidFill>
          <a:ln w="12700">
            <a:solidFill>
              <a:srgbClr val="2432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394960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 subido a GitHub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035040" y="539496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537960" y="5394960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node_modules/ al .gitignore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548640"/>
            <a:ext cx="2194560" cy="1909267"/>
          </a:xfrm>
          <a:prstGeom prst="hexagon">
            <a:avLst/>
          </a:prstGeom>
          <a:solidFill>
            <a:srgbClr val="5FA04E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2468880"/>
            <a:ext cx="1463040" cy="1272845"/>
          </a:xfrm>
          <a:prstGeom prst="hexagon">
            <a:avLst/>
          </a:prstGeom>
          <a:solidFill>
            <a:srgbClr val="F2A31C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595360" y="3566160"/>
            <a:ext cx="1280160" cy="1113739"/>
          </a:xfrm>
          <a:prstGeom prst="hexagon">
            <a:avLst/>
          </a:prstGeom>
          <a:ln w="19050">
            <a:solidFill>
              <a:srgbClr val="8CC84B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F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8046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SzPct val="100000"/>
              <a:buChar char="⬢"/>
            </a:pPr>
            <a:r>
              <a:rPr lang="en-US" sz="1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corre JavaScript fuera del navegador, de forma no bloqueante.</a:t>
            </a:r>
            <a:endParaRPr lang="en-US" sz="1900" dirty="0"/>
          </a:p>
          <a:p>
            <a:pPr marL="279400" indent="-279400">
              <a:spcAft>
                <a:spcPts val="1400"/>
              </a:spcAft>
              <a:buSzPct val="100000"/>
              <a:buChar char="⬢"/>
            </a:pPr>
            <a:r>
              <a:rPr lang="en-US" sz="1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instala paquetes; node_modules nunca va a GitHub.</a:t>
            </a:r>
            <a:endParaRPr lang="en-US" sz="1900" dirty="0"/>
          </a:p>
          <a:p>
            <a:pPr marL="279400" indent="-279400">
              <a:spcAft>
                <a:spcPts val="1400"/>
              </a:spcAft>
              <a:buSzPct val="100000"/>
              <a:buChar char="⬢"/>
            </a:pPr>
            <a:r>
              <a:rPr lang="en-US" sz="1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define rutas: app.get, app.post… con req y res.</a:t>
            </a:r>
            <a:endParaRPr lang="en-US" sz="1900" dirty="0"/>
          </a:p>
          <a:p>
            <a:pPr marL="279400" indent="-279400">
              <a:spcAft>
                <a:spcPts val="1400"/>
              </a:spcAft>
              <a:buSzPct val="100000"/>
              <a:buChar char="⬢"/>
            </a:pPr>
            <a:r>
              <a:rPr lang="en-US" sz="1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express.static su frontend y su API viven en el mismo servidor.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4526280"/>
            <a:ext cx="8046720" cy="1463040"/>
          </a:xfrm>
          <a:prstGeom prst="roundRect">
            <a:avLst>
              <a:gd name="adj" fmla="val 5000"/>
            </a:avLst>
          </a:prstGeom>
          <a:solidFill>
            <a:srgbClr val="2A2112"/>
          </a:solidFill>
          <a:ln w="25400">
            <a:solidFill>
              <a:srgbClr val="F2A3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46634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A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AHORA: EJERCICIO PRÁCTICO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5074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API de la Cafetería del CRUI  ·  30 minutos</a:t>
            </a:r>
            <a:endParaRPr lang="en-US" sz="2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Node.js — JavaScript del lado del servidor</dc:title>
  <dc:subject>PptxGenJS Presentation</dc:subject>
  <dc:creator>Jorge Marinoni</dc:creator>
  <cp:lastModifiedBy>Jorge Marinoni</cp:lastModifiedBy>
  <cp:revision>1</cp:revision>
  <dcterms:created xsi:type="dcterms:W3CDTF">2026-10-14T19:40:24Z</dcterms:created>
  <dcterms:modified xsi:type="dcterms:W3CDTF">2026-10-14T19:40:24Z</dcterms:modified>
</cp:coreProperties>
</file>